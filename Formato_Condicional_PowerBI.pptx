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F5A800">
              <a:alpha val="60000"/>
            </a:srgbClr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3840480"/>
            <a:ext cx="1645920" cy="1645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74320"/>
            <a:ext cx="164592" cy="164592"/>
          </a:xfrm>
          <a:prstGeom prst="ellipse">
            <a:avLst/>
          </a:prstGeom>
          <a:solidFill>
            <a:srgbClr val="F5A800"/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548640"/>
            <a:ext cx="164592" cy="164592"/>
          </a:xfrm>
          <a:prstGeom prst="ellipse">
            <a:avLst/>
          </a:prstGeom>
          <a:solidFill>
            <a:srgbClr val="F5A800">
              <a:alpha val="50000"/>
            </a:srgbClr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274320"/>
            <a:ext cx="164592" cy="164592"/>
          </a:xfrm>
          <a:prstGeom prst="ellipse">
            <a:avLst/>
          </a:prstGeom>
          <a:solidFill>
            <a:srgbClr val="F5A800">
              <a:alpha val="30000"/>
            </a:srgbClr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57200"/>
            <a:ext cx="2743200" cy="502920"/>
          </a:xfrm>
          <a:prstGeom prst="rect">
            <a:avLst/>
          </a:prstGeom>
          <a:solidFill>
            <a:srgbClr val="1A2742"/>
          </a:solidFill>
          <a:ln w="12700">
            <a:solidFill>
              <a:srgbClr val="1A27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10972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Formato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Condicional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2860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Resaltado automático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KPIs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463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Completa con Ejercicios Prácticos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931920" y="2194560"/>
            <a:ext cx="347472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648" y="2276856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434840" y="21945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 Fondo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931920" y="2788920"/>
            <a:ext cx="347472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2871216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34840" y="27889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 Fuente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931920" y="3383280"/>
            <a:ext cx="347472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346557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434840" y="33832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de Datos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931920" y="3977640"/>
            <a:ext cx="347472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405993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434840" y="39776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Íconos &amp; Semáforos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93192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Ejercicios Prácticos  •  Reto Final  •  Casos Reales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CONTENIDO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91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73152" cy="9144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0515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Formato Condicional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73152" cy="9144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10515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715000" y="1051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y aplicaciones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40280"/>
            <a:ext cx="73152" cy="9144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2402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22402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formato condicional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2402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240280"/>
            <a:ext cx="73152" cy="9144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22402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715000" y="22402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 en KPIs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29000"/>
            <a:ext cx="73152" cy="9144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4290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34290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Prácticos (8 ejercicios)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429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429000"/>
            <a:ext cx="73152" cy="9144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27" name="Text 25"/>
          <p:cNvSpPr/>
          <p:nvPr/>
        </p:nvSpPr>
        <p:spPr>
          <a:xfrm>
            <a:off x="5010912" y="34290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715000" y="34290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Final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INTRODUCCIÓN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91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0" cy="12801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el Formato Condicional?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que modifica automáticamente la apariencia de los datos según su valor o reglas definidas por el usuario.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1005840"/>
            <a:ext cx="3200400" cy="1280160"/>
          </a:xfrm>
          <a:prstGeom prst="rect">
            <a:avLst/>
          </a:prstGeom>
          <a:solidFill>
            <a:srgbClr val="F5A8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0" y="1051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Resaltar KPIs mediante colores, barras e íconos, sin necesidad de DAX complejo.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BENEFICIOS CLAVE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3081528"/>
            <a:ext cx="347472" cy="3474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2926080"/>
            <a:ext cx="73152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92608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Destacar información importante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370332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858768"/>
            <a:ext cx="347472" cy="34747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65760" y="3703320"/>
            <a:ext cx="73152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5"/>
          <p:cNvSpPr/>
          <p:nvPr/>
        </p:nvSpPr>
        <p:spPr>
          <a:xfrm>
            <a:off x="960120" y="370332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identificación de tendencias y excepciones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46320" y="292608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081528"/>
            <a:ext cx="347472" cy="34747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846320" y="2926080"/>
            <a:ext cx="73152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18"/>
          <p:cNvSpPr/>
          <p:nvPr/>
        </p:nvSpPr>
        <p:spPr>
          <a:xfrm>
            <a:off x="5440680" y="292608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experiencia de análisis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846320" y="370332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858768"/>
            <a:ext cx="347472" cy="3474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846320" y="3703320"/>
            <a:ext cx="73152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1"/>
          <p:cNvSpPr/>
          <p:nvPr/>
        </p:nvSpPr>
        <p:spPr>
          <a:xfrm>
            <a:off x="5440680" y="370332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la interpretación visual de reportes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USOS Y APLICACIONES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91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07008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25272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188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de Fondo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15727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 valores mediante escalas de color aplicadas al fondo de cada celda.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120700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25272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1188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de Fuente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806440" y="15727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automáticamente el color del texto según el valor o condición.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92608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127248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172968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1089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Barras de Datos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25880" y="34930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magnitudes visualmente con barras proporcionales dentro de la celda.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292608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0" y="3127248"/>
            <a:ext cx="640080" cy="640080"/>
          </a:xfrm>
          <a:prstGeom prst="ellipse">
            <a:avLst/>
          </a:prstGeom>
          <a:solidFill>
            <a:srgbClr val="F5A80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172968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06440" y="31089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Íconos / Semáforos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806440" y="34930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indicadores visuales de desempeño (▲ ► ▼) o semáforos.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26" name="Text 2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Se aplica en: Tablas • Matrices • KPIs • Gráficos   |   Sobre: Campos numéricos • Texto • Códigos HEX • URLs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TIPOS DE FORMATO CONDICIONAL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91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CÓMO ACCEDER:  Seleccionar Tabla o Matriz  →  Clic derecho en el campo  →  Formato condicional  →  Elegir tipo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64008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011680"/>
            <a:ext cx="438912" cy="438912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2048256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69848" y="19476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de Fondo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69848" y="22677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colores al fondo de las celdas basándose en escala de colores, reglas o valor de campo.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9848" y="27249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altos = Azul oscuro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bajos = Azul claro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0" y="187452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874520"/>
            <a:ext cx="64008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Shape 13"/>
          <p:cNvSpPr/>
          <p:nvPr/>
        </p:nvSpPr>
        <p:spPr>
          <a:xfrm>
            <a:off x="3337560" y="2011680"/>
            <a:ext cx="438912" cy="43891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2048256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04488" y="19476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de Fuente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904488" y="22677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 el color del texto de forma dinámica según el valor numérico o condición definida.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904488" y="27249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proporcional al valor del campo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035040" y="187452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35040" y="1874520"/>
            <a:ext cx="64008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Shape 19"/>
          <p:cNvSpPr/>
          <p:nvPr/>
        </p:nvSpPr>
        <p:spPr>
          <a:xfrm>
            <a:off x="6172200" y="2011680"/>
            <a:ext cx="438912" cy="438912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2048256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39128" y="19476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Barras de Datos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739128" y="22677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visualmente la magnitud con barras proporcionales directamente en la celda.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739128" y="27249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Positivos = Barra Azul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Negativos = Barra Roja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960120" y="3291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60120" y="3291840"/>
            <a:ext cx="64008" cy="118872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30" name="Shape 25"/>
          <p:cNvSpPr/>
          <p:nvPr/>
        </p:nvSpPr>
        <p:spPr>
          <a:xfrm>
            <a:off x="1097280" y="3429000"/>
            <a:ext cx="438912" cy="438912"/>
          </a:xfrm>
          <a:prstGeom prst="ellipse">
            <a:avLst/>
          </a:prstGeom>
          <a:solidFill>
            <a:srgbClr val="F5A80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3465576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664208" y="3364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Íconos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1664208" y="36850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íconos de semáforo, flechas u otros indicadores según reglas configuradas.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664208" y="4142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Verde  🟡 Amarillo  🔴 Rojo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5166360" y="3291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5166360" y="3291840"/>
            <a:ext cx="64008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Shape 31"/>
          <p:cNvSpPr/>
          <p:nvPr/>
        </p:nvSpPr>
        <p:spPr>
          <a:xfrm>
            <a:off x="5303520" y="3429000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3465576"/>
            <a:ext cx="365760" cy="36576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870448" y="3364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URL Web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5870448" y="36850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valores de texto en hipervínculos activos en tablas o matrices de Power BI.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5870448" y="4142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→ Enlace web navegable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FORMATO CONDICIONAL EN KPIs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91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2926080" cy="4023360"/>
          </a:xfrm>
          <a:prstGeom prst="rect">
            <a:avLst/>
          </a:prstGeom>
          <a:solidFill>
            <a:srgbClr val="1A27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SEMÁFORO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DESEMPEÑO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822960" cy="82296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1783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1305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CUMPLIDA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05840" y="2606040"/>
            <a:ext cx="822960" cy="822960"/>
          </a:xfrm>
          <a:prstGeom prst="ellipse">
            <a:avLst/>
          </a:prstGeom>
          <a:solidFill>
            <a:srgbClr val="EAB30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2024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90%–99%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9535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ATENCIÓN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05840" y="3429000"/>
            <a:ext cx="822960" cy="82296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20240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7764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DEBAJO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20440" y="960120"/>
            <a:ext cx="1737360" cy="4572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960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Objetivos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1417320"/>
          <a:ext cx="1737360" cy="164592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90%–99%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 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394960" y="960120"/>
            <a:ext cx="1737360" cy="4572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20" name="Text 17"/>
          <p:cNvSpPr/>
          <p:nvPr/>
        </p:nvSpPr>
        <p:spPr>
          <a:xfrm>
            <a:off x="5394960" y="960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vs Período Anterior</a:t>
            </a:r>
            <a:endParaRPr lang="en-US" sz="8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417320"/>
          <a:ext cx="1737360" cy="164592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cambio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 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7269480" y="960120"/>
            <a:ext cx="1737360" cy="4572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23" name="Text 19"/>
          <p:cNvSpPr/>
          <p:nvPr/>
        </p:nvSpPr>
        <p:spPr>
          <a:xfrm>
            <a:off x="7269480" y="960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Inventario</a:t>
            </a:r>
            <a:endParaRPr lang="en-US" sz="85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417320"/>
          <a:ext cx="1737360" cy="164592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Óptimo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 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</a:tbl>
          </a:graphicData>
        </a:graphic>
      </p:graphicFrame>
      <p:sp>
        <p:nvSpPr>
          <p:cNvPr id="25" name="Text 20"/>
          <p:cNvSpPr/>
          <p:nvPr/>
        </p:nvSpPr>
        <p:spPr>
          <a:xfrm>
            <a:off x="3520440" y="3246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INDICADORES QUE SE CONSIDERAN KPI: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520440" y="3611880"/>
            <a:ext cx="169164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520440" y="36118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Ventas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349240" y="3611880"/>
            <a:ext cx="169164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349240" y="36118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Margen de beneficio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7178040" y="3611880"/>
            <a:ext cx="169164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178040" y="36118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Cumplimiento de objetivos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3520440" y="4114800"/>
            <a:ext cx="169164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520440" y="4114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Nivel de inventario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5349240" y="4114800"/>
            <a:ext cx="169164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349240" y="4114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Tiempo de entrega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7178040" y="4114800"/>
            <a:ext cx="169164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178040" y="41148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Satisfacción del cliente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EJERCICIOS PRÁCTICOS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91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69080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33272"/>
            <a:ext cx="512064" cy="51206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06984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de Fondo por Escala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38912" y="19933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una escala de color a la columna "Ganancia/Pérdida".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8912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912" y="2706624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13232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la tabla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8912" y="2999232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438912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713232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menú de la columna "Ganancia/Pérdida"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38912" y="329184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438912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13232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Seleccionar: Formato condicional → Color de fondo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38912" y="3584448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1"/>
          <p:cNvSpPr/>
          <p:nvPr/>
        </p:nvSpPr>
        <p:spPr>
          <a:xfrm>
            <a:off x="438912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13232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Elegir: Formato por Escala de colores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38912" y="3877056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4"/>
          <p:cNvSpPr/>
          <p:nvPr/>
        </p:nvSpPr>
        <p:spPr>
          <a:xfrm>
            <a:off x="438912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713232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en: Ganancia/Pérdida → Aceptar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84048" y="4251960"/>
            <a:ext cx="3822192" cy="548640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4251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Valores bajos → Azul claro  |  Valores altos → Azul oscuro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00600" y="960120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00600" y="960120"/>
            <a:ext cx="4069080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Shape 30"/>
          <p:cNvSpPr/>
          <p:nvPr/>
        </p:nvSpPr>
        <p:spPr>
          <a:xfrm>
            <a:off x="4910328" y="1033272"/>
            <a:ext cx="512064" cy="51206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069848"/>
            <a:ext cx="438912" cy="43891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53212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02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53212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de Fuente por Escala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965192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965192" y="19933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color dinámico al texto según su valor.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4965192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PASOS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965192" y="2706624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1" name="Text 37"/>
          <p:cNvSpPr/>
          <p:nvPr/>
        </p:nvSpPr>
        <p:spPr>
          <a:xfrm>
            <a:off x="4965192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5239512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la tabla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965192" y="2999232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4" name="Text 40"/>
          <p:cNvSpPr/>
          <p:nvPr/>
        </p:nvSpPr>
        <p:spPr>
          <a:xfrm>
            <a:off x="4965192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5239512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a: Ganancia/Pérdida → Formato condicional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4965192" y="3291840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7" name="Text 43"/>
          <p:cNvSpPr/>
          <p:nvPr/>
        </p:nvSpPr>
        <p:spPr>
          <a:xfrm>
            <a:off x="4965192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5239512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Seleccionar: Color de fuente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4965192" y="3584448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0" name="Text 46"/>
          <p:cNvSpPr/>
          <p:nvPr/>
        </p:nvSpPr>
        <p:spPr>
          <a:xfrm>
            <a:off x="4965192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5239512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escala de colores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4965192" y="3877056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3" name="Text 49"/>
          <p:cNvSpPr/>
          <p:nvPr/>
        </p:nvSpPr>
        <p:spPr>
          <a:xfrm>
            <a:off x="4965192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5239512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4910328" y="4251960"/>
            <a:ext cx="3822192" cy="548640"/>
          </a:xfrm>
          <a:prstGeom prst="rect">
            <a:avLst/>
          </a:prstGeom>
          <a:solidFill>
            <a:srgbClr val="8B5CF6">
              <a:alpha val="12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029200" y="4251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Intensidad de color proporcional al valor numérico.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EJERCICIOS PRÁCTICOS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91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69080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33272"/>
            <a:ext cx="512064" cy="51206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06984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03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Barras de Datos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38912" y="19933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visualmente la magnitud de los valores.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8912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912" y="2706624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13232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la tabla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8912" y="299923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5"/>
          <p:cNvSpPr/>
          <p:nvPr/>
        </p:nvSpPr>
        <p:spPr>
          <a:xfrm>
            <a:off x="438912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713232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Abrir: Formato condicional → Barras de datos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38912" y="329184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8"/>
          <p:cNvSpPr/>
          <p:nvPr/>
        </p:nvSpPr>
        <p:spPr>
          <a:xfrm>
            <a:off x="438912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13232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Configurar: Positivos = Azul | Negativos = Rojo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38912" y="3584448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438912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13232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84048" y="4251960"/>
            <a:ext cx="3822192" cy="548640"/>
          </a:xfrm>
          <a:prstGeom prst="rect">
            <a:avLst/>
          </a:prstGeom>
          <a:solidFill>
            <a:srgbClr val="22C55E">
              <a:alpha val="12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251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Valores positivos → Barra azul  |  Valores negativos → Barra roja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800600" y="960120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800600" y="960120"/>
            <a:ext cx="4069080" cy="658368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30" name="Shape 27"/>
          <p:cNvSpPr/>
          <p:nvPr/>
        </p:nvSpPr>
        <p:spPr>
          <a:xfrm>
            <a:off x="4910328" y="1033272"/>
            <a:ext cx="512064" cy="51206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069848"/>
            <a:ext cx="438912" cy="43891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53212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04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53212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Íconos Tipo Semáforo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965192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965192" y="19933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resultados mediante íconos de semáforo.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965192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PASOS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965192" y="2706624"/>
            <a:ext cx="201168" cy="201168"/>
          </a:xfrm>
          <a:prstGeom prst="ellipse">
            <a:avLst/>
          </a:prstGeom>
          <a:solidFill>
            <a:srgbClr val="F5A800"/>
          </a:solidFill>
          <a:ln/>
        </p:spPr>
      </p:sp>
      <p:sp>
        <p:nvSpPr>
          <p:cNvPr id="38" name="Text 34"/>
          <p:cNvSpPr/>
          <p:nvPr/>
        </p:nvSpPr>
        <p:spPr>
          <a:xfrm>
            <a:off x="4965192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5239512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la tabla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965192" y="2999232"/>
            <a:ext cx="201168" cy="201168"/>
          </a:xfrm>
          <a:prstGeom prst="ellipse">
            <a:avLst/>
          </a:prstGeom>
          <a:solidFill>
            <a:srgbClr val="F5A800"/>
          </a:solidFill>
          <a:ln/>
        </p:spPr>
      </p:sp>
      <p:sp>
        <p:nvSpPr>
          <p:cNvPr id="41" name="Text 37"/>
          <p:cNvSpPr/>
          <p:nvPr/>
        </p:nvSpPr>
        <p:spPr>
          <a:xfrm>
            <a:off x="4965192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5239512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a: Formato condicional → Iconos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965192" y="3291840"/>
            <a:ext cx="201168" cy="201168"/>
          </a:xfrm>
          <a:prstGeom prst="ellipse">
            <a:avLst/>
          </a:prstGeom>
          <a:solidFill>
            <a:srgbClr val="F5A800"/>
          </a:solidFill>
          <a:ln/>
        </p:spPr>
      </p:sp>
      <p:sp>
        <p:nvSpPr>
          <p:cNvPr id="44" name="Text 40"/>
          <p:cNvSpPr/>
          <p:nvPr/>
        </p:nvSpPr>
        <p:spPr>
          <a:xfrm>
            <a:off x="4965192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5239512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estilo semáforo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4965192" y="3584448"/>
            <a:ext cx="201168" cy="201168"/>
          </a:xfrm>
          <a:prstGeom prst="ellipse">
            <a:avLst/>
          </a:prstGeom>
          <a:solidFill>
            <a:srgbClr val="F5A800"/>
          </a:solidFill>
          <a:ln/>
        </p:spPr>
      </p:sp>
      <p:sp>
        <p:nvSpPr>
          <p:cNvPr id="47" name="Text 43"/>
          <p:cNvSpPr/>
          <p:nvPr/>
        </p:nvSpPr>
        <p:spPr>
          <a:xfrm>
            <a:off x="4965192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5239512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reglas: ≤0 Rojo | &gt;0 y ≤12.000 Amarillo | &gt;12.000 Verde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4965192" y="3877056"/>
            <a:ext cx="201168" cy="201168"/>
          </a:xfrm>
          <a:prstGeom prst="ellipse">
            <a:avLst/>
          </a:prstGeom>
          <a:solidFill>
            <a:srgbClr val="F5A800"/>
          </a:solidFill>
          <a:ln/>
        </p:spPr>
      </p:sp>
      <p:sp>
        <p:nvSpPr>
          <p:cNvPr id="50" name="Text 46"/>
          <p:cNvSpPr/>
          <p:nvPr/>
        </p:nvSpPr>
        <p:spPr>
          <a:xfrm>
            <a:off x="4965192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5239512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4910328" y="4251960"/>
            <a:ext cx="3822192" cy="548640"/>
          </a:xfrm>
          <a:prstGeom prst="rect">
            <a:avLst/>
          </a:prstGeom>
          <a:solidFill>
            <a:srgbClr val="F5A800">
              <a:alpha val="12000"/>
            </a:srgbClr>
          </a:solidFill>
          <a:ln w="6350">
            <a:solidFill>
              <a:srgbClr val="F5A80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029200" y="4251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Visualización automática mediante semáforos de color.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EJERCICIOS PRÁCTICOS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91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6908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33272"/>
            <a:ext cx="512064" cy="51206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06984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Formato con Códigos HEX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38912" y="19933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colores utilizando una columna con códigos hexadecimales.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8912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912" y="270662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13232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columna con códigos: #FF0000 | #00FF00 | #0000FF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8912" y="299923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438912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713232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la tabla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38912" y="329184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438912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13232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a: Colores → Formato condicional → Color de fondo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38912" y="358444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1"/>
          <p:cNvSpPr/>
          <p:nvPr/>
        </p:nvSpPr>
        <p:spPr>
          <a:xfrm>
            <a:off x="438912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13232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Seleccionar: Formato por → Valor de campo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38912" y="387705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4"/>
          <p:cNvSpPr/>
          <p:nvPr/>
        </p:nvSpPr>
        <p:spPr>
          <a:xfrm>
            <a:off x="438912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713232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84048" y="4251960"/>
            <a:ext cx="3822192" cy="548640"/>
          </a:xfrm>
          <a:prstGeom prst="rect">
            <a:avLst/>
          </a:prstGeom>
          <a:solidFill>
            <a:srgbClr val="EF4444">
              <a:alpha val="12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4251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Cada fila se colorea con el código HEX almacenado en la columna.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00600" y="960120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00600" y="960120"/>
            <a:ext cx="4069080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30"/>
          <p:cNvSpPr/>
          <p:nvPr/>
        </p:nvSpPr>
        <p:spPr>
          <a:xfrm>
            <a:off x="4910328" y="1033272"/>
            <a:ext cx="512064" cy="51206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069848"/>
            <a:ext cx="438912" cy="43891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53212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06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53212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Formato por Reglas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965192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965192" y="19933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colores según rangos definidos manualmente.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4965192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PASOS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965192" y="270662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7"/>
          <p:cNvSpPr/>
          <p:nvPr/>
        </p:nvSpPr>
        <p:spPr>
          <a:xfrm>
            <a:off x="4965192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5239512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tabla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965192" y="29992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0"/>
          <p:cNvSpPr/>
          <p:nvPr/>
        </p:nvSpPr>
        <p:spPr>
          <a:xfrm>
            <a:off x="4965192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5239512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a: Formato condicional → Color de fondo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4965192" y="32918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3"/>
          <p:cNvSpPr/>
          <p:nvPr/>
        </p:nvSpPr>
        <p:spPr>
          <a:xfrm>
            <a:off x="4965192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5239512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"Reglas"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4965192" y="358444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0" name="Text 46"/>
          <p:cNvSpPr/>
          <p:nvPr/>
        </p:nvSpPr>
        <p:spPr>
          <a:xfrm>
            <a:off x="4965192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5239512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Configurar: ≤0 Rojo | &gt;0 y ≤21.000 Amarillo | &gt;21.000 Azul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4965192" y="387705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49"/>
          <p:cNvSpPr/>
          <p:nvPr/>
        </p:nvSpPr>
        <p:spPr>
          <a:xfrm>
            <a:off x="4965192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5239512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4910328" y="4251960"/>
            <a:ext cx="3822192" cy="548640"/>
          </a:xfrm>
          <a:prstGeom prst="rect">
            <a:avLst/>
          </a:prstGeom>
          <a:solidFill>
            <a:srgbClr val="10B981">
              <a:alpha val="1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029200" y="4251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Visualización automática según desempeño y rangos.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EJERCICIOS PRÁCTICOS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91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6908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33272"/>
            <a:ext cx="512064" cy="51206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06984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07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Gráfico de Columnas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38912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38912" y="19933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colores dinámicos a un gráfico de columnas agrupadas.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8912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912" y="2706624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13232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gráfico de columnas agrupadas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8912" y="2999232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438912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713232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a: Formato → Colores de datos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38912" y="3291840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438912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13232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Formato condicional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38912" y="3584448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1"/>
          <p:cNvSpPr/>
          <p:nvPr/>
        </p:nvSpPr>
        <p:spPr>
          <a:xfrm>
            <a:off x="438912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13232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reglas: Negativos → Rojo | Positivos → Azul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38912" y="3877056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438912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713232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84048" y="4251960"/>
            <a:ext cx="3822192" cy="548640"/>
          </a:xfrm>
          <a:prstGeom prst="rect">
            <a:avLst/>
          </a:prstGeom>
          <a:solidFill>
            <a:srgbClr val="0891B2">
              <a:alpha val="12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4251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Las barras cambian automáticamente de color según el valor.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00600" y="960120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00600" y="960120"/>
            <a:ext cx="406908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Shape 30"/>
          <p:cNvSpPr/>
          <p:nvPr/>
        </p:nvSpPr>
        <p:spPr>
          <a:xfrm>
            <a:off x="4910328" y="1033272"/>
            <a:ext cx="512064" cy="51206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069848"/>
            <a:ext cx="438912" cy="43891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53212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08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53212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y Tarjetas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965192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965192" y="19933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Resaltar visualmente el cumplimiento de objetivos en tarjetas KPI.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4965192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PASOS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965192" y="2706624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7"/>
          <p:cNvSpPr/>
          <p:nvPr/>
        </p:nvSpPr>
        <p:spPr>
          <a:xfrm>
            <a:off x="4965192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5239512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tarjeta visual → Arrastrar Ganancia/Pérdida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965192" y="2999232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Text 40"/>
          <p:cNvSpPr/>
          <p:nvPr/>
        </p:nvSpPr>
        <p:spPr>
          <a:xfrm>
            <a:off x="4965192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5239512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a: Formato (pincel) → Objeto visual → Llamada → Valor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4965192" y="329184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7" name="Text 43"/>
          <p:cNvSpPr/>
          <p:nvPr/>
        </p:nvSpPr>
        <p:spPr>
          <a:xfrm>
            <a:off x="4965192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5239512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Formato condicional (fx) al lado del color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4965192" y="3584448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Text 46"/>
          <p:cNvSpPr/>
          <p:nvPr/>
        </p:nvSpPr>
        <p:spPr>
          <a:xfrm>
            <a:off x="4965192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5239512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reglas: ≥100.000 Verde | ≥50.000 Amarillo | ≥1.000 Rojo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4965192" y="3877056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3" name="Text 49"/>
          <p:cNvSpPr/>
          <p:nvPr/>
        </p:nvSpPr>
        <p:spPr>
          <a:xfrm>
            <a:off x="4965192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5239512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</a:t>
            </a:r>
            <a:endParaRPr lang="en-US" sz="950" dirty="0"/>
          </a:p>
        </p:txBody>
      </p:sp>
      <p:sp>
        <p:nvSpPr>
          <p:cNvPr id="55" name="Shape 51"/>
          <p:cNvSpPr/>
          <p:nvPr/>
        </p:nvSpPr>
        <p:spPr>
          <a:xfrm>
            <a:off x="4910328" y="4251960"/>
            <a:ext cx="3822192" cy="54864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029200" y="4251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 visual cambia de color automáticamente según el porcentaje de cumplimiento.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F5A800">
              <a:alpha val="20000"/>
            </a:srgbClr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F5A800">
              <a:alpha val="20000"/>
            </a:srgbClr>
          </a:solidFill>
          <a:ln w="12700">
            <a:solidFill>
              <a:srgbClr val="F5A8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RETO FINAL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28016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una tabla de ventas completa combinando todo lo aprendido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402336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389888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435608"/>
            <a:ext cx="530352" cy="530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298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de Fondo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80160" y="1691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colores por reglas definidas según rangos de desempeño.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709160" y="1188720"/>
            <a:ext cx="402336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F5A80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46320" y="1389888"/>
            <a:ext cx="640080" cy="640080"/>
          </a:xfrm>
          <a:prstGeom prst="ellipse">
            <a:avLst/>
          </a:prstGeom>
          <a:solidFill>
            <a:srgbClr val="F5A8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435608"/>
            <a:ext cx="530352" cy="530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12984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Semáforos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623560" y="1691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Íconos de desempeño automáticos para clasificar resultados.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5760" y="2743200"/>
            <a:ext cx="402336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02920" y="2944368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990088"/>
            <a:ext cx="530352" cy="5303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2852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Barras de Datos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28016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visual de magnitudes en cada celda.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709160" y="2743200"/>
            <a:ext cx="402336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846320" y="2944368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2990088"/>
            <a:ext cx="530352" cy="5303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623560" y="28529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Códigos HEX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62356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dinámicos mediante columna de códigos hexadecimales.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F5A800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453128"/>
            <a:ext cx="438912" cy="43891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51560" y="43891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Crear una visualización que identifique rápidamente resultados positivos, negativos y niveles de cumplimiento, sin DAX complejo.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742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5A800">
              <a:alpha val="12000"/>
            </a:srgbClr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F5A800">
              <a:alpha val="15000"/>
            </a:srgbClr>
          </a:solidFill>
          <a:ln w="12700">
            <a:solidFill>
              <a:srgbClr val="F5A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280160"/>
            <a:ext cx="4572000" cy="109728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¡Muchas Gracias!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 en Power BI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Resaltado automático de KPIs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749040"/>
            <a:ext cx="201168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5A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 Fondo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749040"/>
            <a:ext cx="201168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5A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 Fuente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3749040"/>
            <a:ext cx="201168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5A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de Datos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4251960"/>
            <a:ext cx="201168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5A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251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Íconos &amp; Semáforos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4251960"/>
            <a:ext cx="201168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5A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4251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HEX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4251960"/>
            <a:ext cx="201168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5A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4251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por Reglas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 Condicional en Power BI</dc:title>
  <dc:subject>PptxGenJS Presentation</dc:subject>
  <dc:creator>PptxGenJS</dc:creator>
  <cp:lastModifiedBy>PptxGenJS</cp:lastModifiedBy>
  <cp:revision>1</cp:revision>
  <dcterms:created xsi:type="dcterms:W3CDTF">2026-05-29T03:50:00Z</dcterms:created>
  <dcterms:modified xsi:type="dcterms:W3CDTF">2026-05-29T03:50:00Z</dcterms:modified>
</cp:coreProperties>
</file>